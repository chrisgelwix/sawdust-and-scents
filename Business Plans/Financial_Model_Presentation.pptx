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Sawdust and Scents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Financial Model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Financial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Quick Reference</a:t>
            </a:r>
          </a:p>
          <a:p>
            <a:r>
              <a:t>• Initial Investment: $150,000</a:t>
            </a:r>
          </a:p>
          <a:p>
            <a:r>
              <a:t>• Monthly Break-Even: 280 units / $14,560</a:t>
            </a:r>
          </a:p>
          <a:p>
            <a:r>
              <a:t>• Average Gross Margin: 54%</a:t>
            </a:r>
          </a:p>
          <a:p>
            <a:r>
              <a:t>• Break-Even Timeline: Month 12-15</a:t>
            </a:r>
          </a:p>
          <a:p>
            <a:r>
              <a:t>• 3-Year ROI: 118%</a:t>
            </a:r>
          </a:p>
          <a:p>
            <a:r>
              <a:t>• Payback Period: 2.5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Break-Even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Calculation</a:t>
            </a:r>
          </a:p>
          <a:p>
            <a:r>
              <a:t>Fixed Costs: $8,400/month</a:t>
            </a:r>
          </a:p>
          <a:p>
            <a:r>
              <a:t>Average Selling Price: $52</a:t>
            </a:r>
          </a:p>
          <a:p>
            <a:r>
              <a:t>Variable Cost: $22</a:t>
            </a:r>
          </a:p>
          <a:p>
            <a:r>
              <a:t>Contribution Margin: $30/unit</a:t>
            </a:r>
          </a:p>
          <a:p>
            <a:r>
              <a:t>Break-Even Units: 280/month</a:t>
            </a:r>
          </a:p>
          <a:p>
            <a:r>
              <a:t>Break-Even Revenue: $14,560/month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 Costs (Monthly): $8,400</a:t>
            </a:r>
          </a:p>
          <a:p>
            <a:r>
              <a:t>• Rent: $1,500</a:t>
            </a:r>
          </a:p>
          <a:p>
            <a:r>
              <a:t>• Utilities: $400</a:t>
            </a:r>
          </a:p>
          <a:p>
            <a:r>
              <a:t>• Salaries: $4,000</a:t>
            </a:r>
          </a:p>
          <a:p>
            <a:r>
              <a:t>• Marketing: $2,000</a:t>
            </a:r>
          </a:p>
          <a:p>
            <a:r>
              <a:t>• Insurance &amp; Software: $500</a:t>
            </a:r>
          </a:p>
          <a:p>
            <a:r>
              <a:t>Variable Cost: $22/unit (materials, labor, shipping)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1 Revenue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Growth Trajectory</a:t>
            </a:r>
          </a:p>
          <a:p>
            <a:r>
              <a:t>Month 1: 50 units, $2,600 revenue</a:t>
            </a:r>
          </a:p>
          <a:p>
            <a:r>
              <a:t>Month 6: 180 units, $9,360 revenue</a:t>
            </a:r>
          </a:p>
          <a:p>
            <a:r>
              <a:t>Month 9: 300 units, $15,600 revenue (First Profit)</a:t>
            </a:r>
          </a:p>
          <a:p>
            <a:r>
              <a:t>Month 12: 450 units, $23,400 revenue</a:t>
            </a:r>
          </a:p>
          <a:p>
            <a:r>
              <a:t>Year 1 Total: 2,710 units, $140,920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3-Year 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$140,920 revenue, ($19,500) net</a:t>
            </a:r>
          </a:p>
          <a:p>
            <a:r>
              <a:t>Year 2: $343,200 revenue, $78,000 profit (22.7% margin)</a:t>
            </a:r>
          </a:p>
          <a:p>
            <a:r>
              <a:t>Year 3: $468,000 revenue, $120,000 profit (25.6% margin)</a:t>
            </a:r>
          </a:p>
          <a:p>
            <a:r>
              <a:t>3-Year Cumulative: $952,120 revenue, $178,500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Products Made vs. Sold</a:t>
            </a:r>
          </a:p>
          <a:p>
            <a:r>
              <a:t>Year 1: 3,000 produced, 2,710 sold (99.2% efficiency)</a:t>
            </a:r>
          </a:p>
          <a:p>
            <a:r>
              <a:t>Year 2: 7,000 produced, 6,600 sold (94.3% efficiency)</a:t>
            </a:r>
          </a:p>
          <a:p>
            <a:r>
              <a:t>Year 3: 9,500 produced, 9,000 sold (94.7% efficiency)</a:t>
            </a:r>
          </a:p>
          <a:p>
            <a:r>
              <a:t>Inventory Turnover: 18-25x annually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Investment: $150,000</a:t>
            </a:r>
          </a:p>
          <a:p>
            <a:r>
              <a:t>Year 1: ($21,000) loss</a:t>
            </a:r>
          </a:p>
          <a:p>
            <a:r>
              <a:t>Year 2: $78,000 profit (52% ROI)</a:t>
            </a:r>
          </a:p>
          <a:p>
            <a:r>
              <a:t>Year 3: $120,000 profit (80% ROI)</a:t>
            </a:r>
          </a:p>
          <a:p>
            <a:r>
              <a:t>3-Year Total Return: $177,000</a:t>
            </a:r>
          </a:p>
          <a:p>
            <a:r>
              <a:t>3-Year ROI: 118%</a:t>
            </a:r>
          </a:p>
          <a:p>
            <a:r>
              <a:t>Payback Period: 2.5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 Cash Flow</a:t>
            </a:r>
          </a:p>
          <a:p>
            <a:r>
              <a:t>Peak Cash Requirement: ~$190,000 (Month 9)</a:t>
            </a:r>
          </a:p>
          <a:p>
            <a:r>
              <a:t>Month 9: First positive cash flow</a:t>
            </a:r>
          </a:p>
          <a:p>
            <a:r>
              <a:t>Month 12: $2,850 positive cash flow</a:t>
            </a:r>
          </a:p>
          <a:p>
            <a:r>
              <a:t>Year 2+: Consistently positive cash 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Scenario Analysis</a:t>
            </a:r>
          </a:p>
          <a:p>
            <a:r>
              <a:t>Base Case: Break-even Month 9, 118% ROI</a:t>
            </a:r>
          </a:p>
          <a:p>
            <a:r>
              <a:t>Conservative (-20% sales): Break-even Month 14, 8% ROI</a:t>
            </a:r>
          </a:p>
          <a:p>
            <a:r>
              <a:t>Optimistic (+20% sales): Break-even Month 7, 32% ROI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KPIs</a:t>
            </a:r>
          </a:p>
          <a:p>
            <a:r>
              <a:t>Gross Margin: 57.7% (Target: &gt;55%)</a:t>
            </a:r>
          </a:p>
          <a:p>
            <a:r>
              <a:t>Net Margin Year 3: 25.6% (Target: &gt;20%)</a:t>
            </a:r>
          </a:p>
          <a:p>
            <a:r>
              <a:t>Operational KPIs</a:t>
            </a:r>
          </a:p>
          <a:p>
            <a:r>
              <a:t>Inventory Turnover: 18-25x (Target: &gt;12x)</a:t>
            </a:r>
          </a:p>
          <a:p>
            <a:r>
              <a:t>Production Efficiency: 94-99% (Target: &gt;95%)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Financial Analysis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